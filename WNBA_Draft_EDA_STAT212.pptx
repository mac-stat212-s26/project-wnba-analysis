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212  ·  EXPLORATORY DATA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1280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WNBA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6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Draft </a:t>
            </a:r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29260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11480" y="3913632"/>
            <a:ext cx="502920" cy="914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Mahamud, Will St. John, Nokwanda Matse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– 2022 DRAFT CLASSES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-1371600"/>
            <a:ext cx="4114800" cy="4114800"/>
          </a:xfrm>
          <a:prstGeom prst="ellipse">
            <a:avLst/>
          </a:prstGeom>
          <a:solidFill>
            <a:srgbClr val="0E2318"/>
          </a:solidFill>
          <a:ln w="355600">
            <a:solidFill>
              <a:srgbClr val="1E3D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draft classes,
</a:t>
            </a:r>
            <a:pPr indent="0" marL="0">
              <a:buNone/>
            </a:pPr>
            <a:r>
              <a:rPr lang="en-US" sz="2800" b="1" dirty="0">
                <a:solidFill>
                  <a:srgbClr val="162A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big question: Does draft slot affect performance?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011680" cy="1874520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6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21792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players drafted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&amp; 2022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783080"/>
            <a:ext cx="2011680" cy="1874520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6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70632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played a single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WNBA game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2011680" cy="1874520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6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19472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stats tracked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(WS, PPG, RPG,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APG…)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783080"/>
            <a:ext cx="2011680" cy="1874520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984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65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68312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per draft class (up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36)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POSITION → 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Earlier picks produce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win shares, with some caveats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WIN SHARES BY PICK RANGE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084832"/>
            <a:ext cx="2834640" cy="320040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084832"/>
            <a:ext cx="2834640" cy="3200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7–12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651760"/>
            <a:ext cx="2834640" cy="320040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651760"/>
            <a:ext cx="1333948" cy="32004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2670048"/>
            <a:ext cx="128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13–24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218688"/>
            <a:ext cx="2834640" cy="320040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218688"/>
            <a:ext cx="666974" cy="32004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3236976"/>
            <a:ext cx="621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581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25+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3785616"/>
            <a:ext cx="2834640" cy="320040"/>
          </a:xfrm>
          <a:prstGeom prst="rect">
            <a:avLst/>
          </a:prstGeom>
          <a:solidFill>
            <a:srgbClr val="2A4A35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785616"/>
            <a:ext cx="166744" cy="320040"/>
          </a:xfrm>
          <a:prstGeom prst="rect">
            <a:avLst/>
          </a:prstGeom>
          <a:solidFill>
            <a:srgbClr val="3D6B4F"/>
          </a:solidFill>
          <a:ln w="12700">
            <a:solidFill>
              <a:srgbClr val="3D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94376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7510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920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shows a </a:t>
            </a:r>
            <a:pPr indent="0" marL="0">
              <a:buNone/>
            </a:pPr>
            <a:r>
              <a:rPr lang="en-US" sz="12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significant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relationship between pick number and win shares.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28712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81635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R² is </a:t>
            </a:r>
            <a:pPr indent="0" marL="0">
              <a:buNone/>
            </a:pPr>
            <a:r>
              <a:rPr lang="en-US" sz="12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Draft order explains only part of the story; playing time matters most.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1246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late-round picks outperformed their slot, showing the draft is an </a:t>
            </a:r>
            <a:pPr indent="0" marL="0">
              <a:buNone/>
            </a:pPr>
            <a:r>
              <a:rPr lang="en-US" sz="125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 signal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GROUP BREAKDOWN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drops steadily after the top 6 picks in the draft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11880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7–12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0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13–24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12280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25+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0"/>
          </a:xfrm>
          <a:prstGeom prst="line">
            <a:avLst/>
          </a:prstGeom>
          <a:noFill/>
          <a:ln w="12700">
            <a:solidFill>
              <a:srgbClr val="2E5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05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Win Shares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120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1228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12700">
            <a:solidFill>
              <a:srgbClr val="2E5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449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Points/Game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6118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120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122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12700">
            <a:solidFill>
              <a:srgbClr val="2E5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93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WS /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886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611880" y="3886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212080" y="3886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12280" y="3886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 picks score 2× more points and accumulate 4× more win shares than picks 13–24.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programs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 the draft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PICKS (VOLUME)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682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UConn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08760" y="1719072"/>
            <a:ext cx="329184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719072"/>
            <a:ext cx="3291840" cy="274320"/>
          </a:xfrm>
          <a:prstGeom prst="rect">
            <a:avLst/>
          </a:prstGeom>
          <a:solidFill>
            <a:srgbClr val="0E2318"/>
          </a:solidFill>
          <a:ln w="12700">
            <a:solidFill>
              <a:srgbClr val="0E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7282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854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2221992"/>
            <a:ext cx="329184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2221992"/>
            <a:ext cx="2468880" cy="274320"/>
          </a:xfrm>
          <a:prstGeom prst="rect">
            <a:avLst/>
          </a:prstGeom>
          <a:solidFill>
            <a:srgbClr val="0E2318"/>
          </a:solidFill>
          <a:ln w="12700">
            <a:solidFill>
              <a:srgbClr val="0E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2311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08760" y="2724912"/>
            <a:ext cx="329184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2724912"/>
            <a:ext cx="2057400" cy="274320"/>
          </a:xfrm>
          <a:prstGeom prst="rect">
            <a:avLst/>
          </a:prstGeom>
          <a:solidFill>
            <a:srgbClr val="0E2318"/>
          </a:solidFill>
          <a:ln w="12700">
            <a:solidFill>
              <a:srgbClr val="0E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2734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1912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08760" y="3227832"/>
            <a:ext cx="329184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3227832"/>
            <a:ext cx="1645920" cy="274320"/>
          </a:xfrm>
          <a:prstGeom prst="rect">
            <a:avLst/>
          </a:prstGeom>
          <a:solidFill>
            <a:srgbClr val="0E2318"/>
          </a:solidFill>
          <a:ln w="12700">
            <a:solidFill>
              <a:srgbClr val="0E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236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6941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Louisville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08760" y="3730752"/>
            <a:ext cx="329184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730752"/>
            <a:ext cx="1645920" cy="274320"/>
          </a:xfrm>
          <a:prstGeom prst="rect">
            <a:avLst/>
          </a:prstGeom>
          <a:solidFill>
            <a:srgbClr val="0E2318"/>
          </a:solidFill>
          <a:ln w="12700">
            <a:solidFill>
              <a:srgbClr val="0E23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37398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AVG. WIN SHARES (MIN. 3 DRAFTEES)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16824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Carolina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719072"/>
            <a:ext cx="265176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1719072"/>
            <a:ext cx="2651760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728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185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221992"/>
            <a:ext cx="265176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221992"/>
            <a:ext cx="1988820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231136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6883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UConn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2724912"/>
            <a:ext cx="265176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2724912"/>
            <a:ext cx="1609997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734056"/>
            <a:ext cx="1564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31912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227832"/>
            <a:ext cx="265176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227832"/>
            <a:ext cx="1136469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236976"/>
            <a:ext cx="10907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36941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3730752"/>
            <a:ext cx="2651760" cy="274320"/>
          </a:xfrm>
          <a:prstGeom prst="rect">
            <a:avLst/>
          </a:prstGeom>
          <a:solidFill>
            <a:srgbClr val="E5E1D8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730752"/>
            <a:ext cx="757646" cy="2743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739896"/>
            <a:ext cx="7119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ORIGIN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Domestic players edge out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internationals (small sample size!)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3977640" cy="2999232"/>
          </a:xfrm>
          <a:prstGeom prst="rect">
            <a:avLst>
              <a:gd name="adj" fmla="val 3659"/>
            </a:avLst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(COLLEGE)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21762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Win Shares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953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~5.1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" y="3429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Points Per Game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730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Games Played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664208"/>
            <a:ext cx="3977640" cy="2999232"/>
          </a:xfrm>
          <a:prstGeom prst="rect">
            <a:avLst>
              <a:gd name="adj" fmla="val 3659"/>
            </a:avLst>
          </a:prstGeom>
          <a:solidFill>
            <a:srgbClr val="1A3326"/>
          </a:solidFill>
          <a:ln w="12700">
            <a:solidFill>
              <a:srgbClr val="2E5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0328" y="21762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10328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Win Shares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2953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~3.2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10328" y="3429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Points Per Game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37307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1032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Games Played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small number of international players in the dataset, interpret with caution.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38912" y="1325880"/>
            <a:ext cx="4069080" cy="1600200"/>
          </a:xfrm>
          <a:prstGeom prst="rect">
            <a:avLst/>
          </a:prstGeom>
          <a:solidFill>
            <a:srgbClr val="1A3326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325880"/>
            <a:ext cx="64008" cy="1600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737360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position predicts success, but imperfectly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2221992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picks average higher win shares, yet the regression's adj. R² is modest, pick number is a projection, not a guarantee.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1325880"/>
            <a:ext cx="4069080" cy="1600200"/>
          </a:xfrm>
          <a:prstGeom prst="rect">
            <a:avLst/>
          </a:prstGeom>
          <a:solidFill>
            <a:srgbClr val="1A3326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1325880"/>
            <a:ext cx="64008" cy="1600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01184" y="1737360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 picks are a clear tier above the 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1184" y="2221992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shares and PPG drop sharply after pick 6. Picks 25+ rarely make a meaningful impact.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063240"/>
            <a:ext cx="4069080" cy="1600200"/>
          </a:xfrm>
          <a:prstGeom prst="rect">
            <a:avLst/>
          </a:prstGeom>
          <a:solidFill>
            <a:srgbClr val="1A3326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3063240"/>
            <a:ext cx="64008" cy="1600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" y="3474720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 time is the strongest predictor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" y="3959352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played and minutes explain win shares better than draft slot, as opportunity matters as much as talent.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3063240"/>
            <a:ext cx="4069080" cy="1600200"/>
          </a:xfrm>
          <a:prstGeom prst="rect">
            <a:avLst/>
          </a:prstGeom>
          <a:solidFill>
            <a:srgbClr val="1A3326"/>
          </a:solidFill>
          <a:ln w="12700">
            <a:solidFill>
              <a:srgbClr val="2A4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3063240"/>
            <a:ext cx="64008" cy="16002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5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3474720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UConn, Baylor &amp; South Carolina lead the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01184" y="3959352"/>
            <a:ext cx="3813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programs produce the most draftees and the highest average win shares; consistently reliable talent factories.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WNBA Draft EDA — STAT 212</dc:title>
  <dc:subject>PptxGenJS Presentation</dc:subject>
  <dc:creator>PptxGenJS</dc:creator>
  <cp:lastModifiedBy>PptxGenJS</cp:lastModifiedBy>
  <cp:revision>1</cp:revision>
  <dcterms:created xsi:type="dcterms:W3CDTF">2026-04-22T04:53:03Z</dcterms:created>
  <dcterms:modified xsi:type="dcterms:W3CDTF">2026-04-22T04:53:03Z</dcterms:modified>
</cp:coreProperties>
</file>